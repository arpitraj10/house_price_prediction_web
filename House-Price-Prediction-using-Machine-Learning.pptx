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Epilogue Thin"/>
      <p:regular r:id="rId201314"/>
    </p:embeddedFont>
    <p:embeddedFont>
      <p:font typeface="Epilogue ExtraLight"/>
      <p:regular r:id="rId201315"/>
    </p:embeddedFont>
    <p:embeddedFont>
      <p:font typeface="Epilogue Light"/>
      <p:regular r:id="rId201316"/>
    </p:embeddedFont>
    <p:embeddedFont>
      <p:font typeface="Epilogue"/>
      <p:regular r:id="rId201317"/>
    </p:embeddedFont>
    <p:embeddedFont>
      <p:font typeface="Epilogue Medium"/>
      <p:regular r:id="rId201318"/>
    </p:embeddedFont>
    <p:embeddedFont>
      <p:font typeface="Epilogue SemiBold"/>
      <p:regular r:id="rId201319"/>
    </p:embeddedFont>
    <p:embeddedFont>
      <p:font typeface="Epilogue ExtraBold"/>
      <p:regular r:id="rId201320"/>
    </p:embeddedFont>
    <p:embeddedFont>
      <p:font typeface="Epilogue Black"/>
      <p:regular r:id="rId201321"/>
    </p:embeddedFont>
    <p:embeddedFont>
      <p:font typeface="Epilogue Bold"/>
      <p:regular r:id="rId201322"/>
    </p:embeddedFont>
    <p:embeddedFont>
      <p:font typeface="Fraunces Light"/>
      <p:regular r:id="rId201323"/>
    </p:embeddedFont>
    <p:embeddedFont>
      <p:font typeface="Fraunces Thin"/>
      <p:regular r:id="rId201324"/>
    </p:embeddedFont>
    <p:embeddedFont>
      <p:font typeface="Fraunces ExtraLight"/>
      <p:regular r:id="rId201325"/>
    </p:embeddedFont>
    <p:embeddedFont>
      <p:font typeface="Fraunces"/>
      <p:regular r:id="rId201326"/>
    </p:embeddedFont>
    <p:embeddedFont>
      <p:font typeface="Fraunces Medium"/>
      <p:regular r:id="rId201327"/>
    </p:embeddedFont>
    <p:embeddedFont>
      <p:font typeface="Fraunces SemiBold"/>
      <p:regular r:id="rId201328"/>
    </p:embeddedFont>
    <p:embeddedFont>
      <p:font typeface="Fraunces Bold"/>
      <p:regular r:id="rId201329"/>
    </p:embeddedFont>
    <p:embeddedFont>
      <p:font typeface="Fraunces ExtraBold"/>
      <p:regular r:id="rId201330"/>
    </p:embeddedFont>
    <p:embeddedFont>
      <p:font typeface="Fraunces Black"/>
      <p:regular r:id="rId20133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Relationship Id="rId201324" Target="fonts/201324.fntdata" Type="http://schemas.openxmlformats.org/officeDocument/2006/relationships/font"/><Relationship Id="rId201325" Target="fonts/201325.fntdata" Type="http://schemas.openxmlformats.org/officeDocument/2006/relationships/font"/><Relationship Id="rId201326" Target="fonts/201326.fntdata" Type="http://schemas.openxmlformats.org/officeDocument/2006/relationships/font"/><Relationship Id="rId201327" Target="fonts/201327.fntdata" Type="http://schemas.openxmlformats.org/officeDocument/2006/relationships/font"/><Relationship Id="rId201328" Target="fonts/201328.fntdata" Type="http://schemas.openxmlformats.org/officeDocument/2006/relationships/font"/><Relationship Id="rId201329" Target="fonts/201329.fntdata" Type="http://schemas.openxmlformats.org/officeDocument/2006/relationships/font"/><Relationship Id="rId201330" Target="fonts/201330.fntdata" Type="http://schemas.openxmlformats.org/officeDocument/2006/relationships/font"/><Relationship Id="rId201331" Target="fonts/201331.fntdata" Type="http://schemas.openxmlformats.org/officeDocument/2006/relationships/font"/><Relationship Id="rId201332" Target="fonts/201332.fntdata" Type="http://schemas.openxmlformats.org/officeDocument/2006/relationships/font"/><Relationship Id="rId201333" Target="fonts/201333.fntdata" Type="http://schemas.openxmlformats.org/officeDocument/2006/relationships/font"/><Relationship Id="rId201334" Target="fonts/201334.fntdata" Type="http://schemas.openxmlformats.org/officeDocument/2006/relationships/font"/><Relationship Id="rId201335" Target="fonts/201335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A8AF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E26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arpitraj10/House_price_prediction_web" TargetMode="Externa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1.png"/><Relationship Id="rId3" Type="http://schemas.openxmlformats.org/officeDocument/2006/relationships/image" Target="../media/image-4-1.png"/><Relationship Id="rId4" Type="http://schemas.openxmlformats.org/officeDocument/2006/relationships/image" Target="../media/image-4-1.png"/><Relationship Id="rId5" Type="http://schemas.openxmlformats.org/officeDocument/2006/relationships/image" Target="../media/image-4-1.png"/><Relationship Id="rId6" Type="http://schemas.openxmlformats.org/officeDocument/2006/relationships/image" Target="../media/image-4-1.png"/><Relationship Id="rId7" Type="http://schemas.openxmlformats.org/officeDocument/2006/relationships/image" Target="../media/image-4-1.png"/><Relationship Id="rId8" Type="http://schemas.openxmlformats.org/officeDocument/2006/relationships/image" Target="../media/image-4-1.png"/><Relationship Id="rId9" Type="http://schemas.openxmlformats.org/officeDocument/2006/relationships/image" Target="../media/image-4-1.pn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1.png"/><Relationship Id="rId4" Type="http://schemas.openxmlformats.org/officeDocument/2006/relationships/image" Target="../media/image-8-2.sv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858813"/>
            <a:ext cx="1173807" cy="266402"/>
          </a:xfrm>
          <a:prstGeom prst="roundRect">
            <a:avLst>
              <a:gd name="adj" fmla="val 17880"/>
            </a:avLst>
          </a:prstGeom>
          <a:solidFill>
            <a:srgbClr val="181E34"/>
          </a:solidFill>
          <a:ln/>
        </p:spPr>
      </p:sp>
      <p:sp>
        <p:nvSpPr>
          <p:cNvPr id="3" name="Text 1"/>
          <p:cNvSpPr/>
          <p:nvPr/>
        </p:nvSpPr>
        <p:spPr>
          <a:xfrm>
            <a:off x="581174" y="901303"/>
            <a:ext cx="1460897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MACHINE LEARNING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1740768" y="858813"/>
            <a:ext cx="970136" cy="266402"/>
          </a:xfrm>
          <a:prstGeom prst="roundRect">
            <a:avLst>
              <a:gd name="adj" fmla="val 17880"/>
            </a:avLst>
          </a:prstGeom>
          <a:noFill/>
          <a:ln/>
          <a:effectLst>
            <a:outerShdw sx="100000" sy="100000" kx="0" ky="0" algn="bl" rotWithShape="0" blurRad="101600" dist="50800" dir="16200000">
              <a:srgbClr val="8c98ca">
                <a:alpha val="10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825823" y="901303"/>
            <a:ext cx="1257226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8C98CA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FLASK WEB APP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2781746" y="858813"/>
            <a:ext cx="1201341" cy="266402"/>
          </a:xfrm>
          <a:prstGeom prst="roundRect">
            <a:avLst>
              <a:gd name="adj" fmla="val 17880"/>
            </a:avLst>
          </a:prstGeom>
          <a:noFill/>
          <a:ln/>
          <a:effectLst>
            <a:outerShdw sx="100000" sy="100000" kx="0" ky="0" algn="bl" rotWithShape="0" blurRad="101600" dist="50800" dir="16200000">
              <a:srgbClr val="8c98ca">
                <a:alpha val="10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866802" y="901303"/>
            <a:ext cx="1488430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8C98CA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REGRESSION MODEL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496119" y="1181919"/>
            <a:ext cx="8486477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House Price Prediction using Machine Learning</a:t>
            </a:r>
            <a:endParaRPr lang="en-US" sz="2750" dirty="0"/>
          </a:p>
        </p:txBody>
      </p:sp>
      <p:sp>
        <p:nvSpPr>
          <p:cNvPr id="9" name="Text 7"/>
          <p:cNvSpPr/>
          <p:nvPr/>
        </p:nvSpPr>
        <p:spPr>
          <a:xfrm>
            <a:off x="496119" y="1837506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Predicting Residential Property Prices with Machine Learning &amp; Flask Web Application.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96119" y="2259211"/>
            <a:ext cx="8151763" cy="19050"/>
          </a:xfrm>
          <a:prstGeom prst="roundRect">
            <a:avLst>
              <a:gd name="adj" fmla="val 60000"/>
            </a:avLst>
          </a:prstGeom>
          <a:solidFill>
            <a:srgbClr val="EBECEF">
              <a:alpha val="5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496119" y="2473151"/>
            <a:ext cx="8151763" cy="1385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EBECEF"/>
                </a:solidFill>
                <a:latin typeface="Epilogue Bold" pitchFamily="34" charset="0"/>
                <a:ea typeface="Epilogue Bold" pitchFamily="34" charset="-122"/>
                <a:cs typeface="Epilogue Bold" pitchFamily="34" charset="-120"/>
              </a:rPr>
              <a:t>Name:</a:t>
            </a:r>
            <a:pPr algn="l" indent="0" marL="0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11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Arpit Rajpurohit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EBECEF"/>
                </a:solidFill>
                <a:latin typeface="Epilogue Bold" pitchFamily="34" charset="0"/>
                <a:ea typeface="Epilogue Bold" pitchFamily="34" charset="-122"/>
                <a:cs typeface="Epilogue Bold" pitchFamily="34" charset="-120"/>
              </a:rPr>
              <a:t>College:</a:t>
            </a:r>
            <a:pPr algn="l" indent="0" marL="0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11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VIT Bhopal University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EBECEF"/>
                </a:solidFill>
                <a:latin typeface="Epilogue Bold" pitchFamily="34" charset="0"/>
                <a:ea typeface="Epilogue Bold" pitchFamily="34" charset="-122"/>
                <a:cs typeface="Epilogue Bold" pitchFamily="34" charset="-120"/>
              </a:rPr>
              <a:t>Department:</a:t>
            </a:r>
            <a:pPr algn="l" indent="0" marL="0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11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Computer Science Engineering (AI/ML)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EBECEF"/>
                </a:solidFill>
                <a:latin typeface="Epilogue Bold" pitchFamily="34" charset="0"/>
                <a:ea typeface="Epilogue Bold" pitchFamily="34" charset="-122"/>
                <a:cs typeface="Epilogue Bold" pitchFamily="34" charset="-120"/>
              </a:rPr>
              <a:t>GitHub Repository: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u="sng" dirty="0">
                <a:solidFill>
                  <a:srgbClr val="8C98CA"/>
                </a:solidFill>
                <a:latin typeface="Epilogue Bold" pitchFamily="34" charset="0"/>
                <a:ea typeface="Epilogue Bold" pitchFamily="34" charset="-122"/>
                <a:cs typeface="Epilogue Bold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arpitraj10/House_price_prediction_web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96119" y="4060775"/>
            <a:ext cx="870496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8C98CA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PYTHON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980256" y="4060775"/>
            <a:ext cx="774353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8C98CA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FLASK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368251" y="4060775"/>
            <a:ext cx="1147390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8C98CA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SCIKIT-LEARN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2129284" y="4060775"/>
            <a:ext cx="740048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8C98CA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HTML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2482974" y="4060775"/>
            <a:ext cx="665262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8C98CA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CSS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782762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Introduction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496119" y="1060921"/>
            <a:ext cx="5243215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The Problem &amp; Our Solution</a:t>
            </a:r>
            <a:endParaRPr lang="en-US" sz="2750" dirty="0"/>
          </a:p>
        </p:txBody>
      </p:sp>
      <p:sp>
        <p:nvSpPr>
          <p:cNvPr id="4" name="Text 2"/>
          <p:cNvSpPr/>
          <p:nvPr/>
        </p:nvSpPr>
        <p:spPr>
          <a:xfrm>
            <a:off x="496119" y="1716509"/>
            <a:ext cx="8151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Buying a house is one of the most important financial decisions, but estimating its fair market value is challenging due to factors like location, area, number of bedrooms, and amenities.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94022" y="2329607"/>
            <a:ext cx="4107135" cy="2031132"/>
          </a:xfrm>
          <a:prstGeom prst="roundRect">
            <a:avLst>
              <a:gd name="adj" fmla="val 5025"/>
            </a:avLst>
          </a:prstGeom>
          <a:solidFill>
            <a:srgbClr val="8C98CA"/>
          </a:solidFill>
          <a:ln/>
        </p:spPr>
      </p:sp>
      <p:sp>
        <p:nvSpPr>
          <p:cNvPr id="6" name="Shape 4"/>
          <p:cNvSpPr/>
          <p:nvPr/>
        </p:nvSpPr>
        <p:spPr>
          <a:xfrm>
            <a:off x="535781" y="2489076"/>
            <a:ext cx="3823618" cy="1712193"/>
          </a:xfrm>
          <a:prstGeom prst="roundRect">
            <a:avLst>
              <a:gd name="adj" fmla="val 3478"/>
            </a:avLst>
          </a:prstGeom>
          <a:solidFill>
            <a:srgbClr val="283157"/>
          </a:solidFill>
          <a:ln w="4763">
            <a:solidFill>
              <a:srgbClr val="414A7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2303" y="2635597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Existing Challenges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82303" y="2998812"/>
            <a:ext cx="3530575" cy="1055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Manual price estimation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Human bias in valuation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Time-consuming process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Inconsistent market pricing</a:t>
            </a:r>
            <a:endParaRPr lang="en-US" sz="11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49701" y="2489076"/>
            <a:ext cx="3902943" cy="1592089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986710" y="2649885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Our Solution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4986710" y="3013100"/>
            <a:ext cx="350512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Developed a Machine Learning-powered web application that predicts house prices instantly using historical housing data — eliminating bias and reducing guesswork.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713110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Chapter 02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496119" y="991270"/>
            <a:ext cx="5602560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Dataset &amp; Feature Engineering</a:t>
            </a:r>
            <a:endParaRPr lang="en-US" sz="2750" dirty="0"/>
          </a:p>
        </p:txBody>
      </p:sp>
      <p:sp>
        <p:nvSpPr>
          <p:cNvPr id="4" name="Text 2"/>
          <p:cNvSpPr/>
          <p:nvPr/>
        </p:nvSpPr>
        <p:spPr>
          <a:xfrm>
            <a:off x="496119" y="1646858"/>
            <a:ext cx="8151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The model is trained on a housing dataset containing important property attributes. Below is the journey of raw data becoming a clean, model-ready dataset.</a:t>
            </a:r>
            <a:endParaRPr lang="en-US" sz="11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2259955"/>
            <a:ext cx="354360" cy="3543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96119" y="2791495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Key Features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96119" y="3098006"/>
            <a:ext cx="3987254" cy="1332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Location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Total Area (Sq. Ft.)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Number of Bedrooms (BHK)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Number of Bathrooms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Price (Target Variable)</a:t>
            </a:r>
            <a:endParaRPr lang="en-US" sz="11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60553" y="2259955"/>
            <a:ext cx="354360" cy="3543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660553" y="2791495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Feature Engineering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4660553" y="3098006"/>
            <a:ext cx="3987329" cy="7795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Data cleaning &amp; missing value handling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Outlier removal &amp; feature selection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One-hot encoding &amp; JSON mapping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0376"/>
            <a:ext cx="1813917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Chapter 03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96119" y="593080"/>
            <a:ext cx="3913063" cy="3391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Machine Learning Pipeline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496119" y="1056903"/>
            <a:ext cx="8608963" cy="1532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This is the complete machine learning lifecycle — from data ingestion to a live web application delivering real-time price predictions.</a:t>
            </a:r>
            <a:endParaRPr lang="en-US" sz="8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629221"/>
            <a:ext cx="2661865" cy="71437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04614" y="2037829"/>
            <a:ext cx="1356717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Dataset</a:t>
            </a:r>
            <a:endParaRPr lang="en-US" sz="10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1030" y="1466404"/>
            <a:ext cx="2661865" cy="71437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349526" y="1875011"/>
            <a:ext cx="1356717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Data Cleaning</a:t>
            </a:r>
            <a:endParaRPr lang="en-US" sz="10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5942" y="1303660"/>
            <a:ext cx="2661865" cy="71437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094437" y="1712268"/>
            <a:ext cx="1356717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Feature Engineering</a:t>
            </a:r>
            <a:endParaRPr lang="en-US" sz="105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119" y="2724448"/>
            <a:ext cx="2661865" cy="714375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604614" y="3133055"/>
            <a:ext cx="1356717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Train/Test Split</a:t>
            </a:r>
            <a:endParaRPr lang="en-US" sz="105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41030" y="2561630"/>
            <a:ext cx="2661865" cy="714375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3349526" y="2970237"/>
            <a:ext cx="1356717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Model Training</a:t>
            </a:r>
            <a:endParaRPr lang="en-US" sz="1050" dirty="0"/>
          </a:p>
        </p:txBody>
      </p:sp>
      <p:pic>
        <p:nvPicPr>
          <p:cNvPr id="1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85942" y="2398886"/>
            <a:ext cx="2661865" cy="714375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6094437" y="2807494"/>
            <a:ext cx="1356717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Model Evaluation</a:t>
            </a:r>
            <a:endParaRPr lang="en-US" sz="1050" dirty="0"/>
          </a:p>
        </p:txBody>
      </p:sp>
      <p:pic>
        <p:nvPicPr>
          <p:cNvPr id="1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6119" y="3819674"/>
            <a:ext cx="2661865" cy="714375"/>
          </a:xfrm>
          <a:prstGeom prst="rect">
            <a:avLst/>
          </a:prstGeom>
        </p:spPr>
      </p:pic>
      <p:sp>
        <p:nvSpPr>
          <p:cNvPr id="18" name="Text 9"/>
          <p:cNvSpPr/>
          <p:nvPr/>
        </p:nvSpPr>
        <p:spPr>
          <a:xfrm>
            <a:off x="604614" y="4228281"/>
            <a:ext cx="1356717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Save Model</a:t>
            </a:r>
            <a:endParaRPr lang="en-US" sz="1050" dirty="0"/>
          </a:p>
        </p:txBody>
      </p:sp>
      <p:pic>
        <p:nvPicPr>
          <p:cNvPr id="1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41030" y="3656856"/>
            <a:ext cx="2661865" cy="714375"/>
          </a:xfrm>
          <a:prstGeom prst="rect">
            <a:avLst/>
          </a:prstGeom>
        </p:spPr>
      </p:pic>
      <p:sp>
        <p:nvSpPr>
          <p:cNvPr id="20" name="Text 10"/>
          <p:cNvSpPr/>
          <p:nvPr/>
        </p:nvSpPr>
        <p:spPr>
          <a:xfrm>
            <a:off x="3349526" y="4065463"/>
            <a:ext cx="1445047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Flask Web Application</a:t>
            </a:r>
            <a:endParaRPr lang="en-US" sz="1050" dirty="0"/>
          </a:p>
        </p:txBody>
      </p:sp>
      <p:pic>
        <p:nvPicPr>
          <p:cNvPr id="21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85942" y="3494112"/>
            <a:ext cx="2661865" cy="714375"/>
          </a:xfrm>
          <a:prstGeom prst="rect">
            <a:avLst/>
          </a:prstGeom>
        </p:spPr>
      </p:pic>
      <p:sp>
        <p:nvSpPr>
          <p:cNvPr id="22" name="Text 11"/>
          <p:cNvSpPr/>
          <p:nvPr/>
        </p:nvSpPr>
        <p:spPr>
          <a:xfrm>
            <a:off x="6094437" y="3902720"/>
            <a:ext cx="1356717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Price Prediction</a:t>
            </a:r>
            <a:endParaRPr lang="en-US" sz="1050" dirty="0"/>
          </a:p>
        </p:txBody>
      </p:sp>
      <p:sp>
        <p:nvSpPr>
          <p:cNvPr id="23" name="Text 12"/>
          <p:cNvSpPr/>
          <p:nvPr/>
        </p:nvSpPr>
        <p:spPr>
          <a:xfrm>
            <a:off x="496119" y="4599756"/>
            <a:ext cx="8608963" cy="1532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Each stage ensures the model is accurate, generalizable, and ready for production deployment.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89855"/>
            <a:ext cx="4124771" cy="352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Model Used &amp; Performance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96119" y="922809"/>
            <a:ext cx="8151763" cy="1232297"/>
          </a:xfrm>
          <a:prstGeom prst="roundRect">
            <a:avLst>
              <a:gd name="adj" fmla="val 3850"/>
            </a:avLst>
          </a:prstGeom>
          <a:solidFill>
            <a:srgbClr val="283157"/>
          </a:solidFill>
          <a:ln w="4763">
            <a:solidFill>
              <a:srgbClr val="414A7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13842" y="1040532"/>
            <a:ext cx="1412081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Algorithm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13842" y="1270992"/>
            <a:ext cx="7916317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EBECEF"/>
                </a:solidFill>
                <a:latin typeface="Epilogue Bold" pitchFamily="34" charset="0"/>
                <a:ea typeface="Epilogue Bold" pitchFamily="34" charset="-122"/>
                <a:cs typeface="Epilogue Bold" pitchFamily="34" charset="-120"/>
              </a:rPr>
              <a:t>Linear Regression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13842" y="1487314"/>
            <a:ext cx="7916317" cy="5500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72720" indent="-172720">
              <a:lnSpc>
                <a:spcPct val="120000"/>
              </a:lnSpc>
              <a:buSzPct val="100000"/>
              <a:buChar char="•"/>
            </a:pPr>
            <a:r>
              <a:rPr lang="en-US" sz="8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Fast training &amp; easy to interpret</a:t>
            </a:r>
            <a:endParaRPr lang="en-US" sz="850" dirty="0"/>
          </a:p>
          <a:p>
            <a:pPr algn="l" marL="172720" indent="-172720">
              <a:lnSpc>
                <a:spcPct val="120000"/>
              </a:lnSpc>
              <a:buSzPct val="100000"/>
              <a:buChar char="•"/>
            </a:pPr>
            <a:r>
              <a:rPr lang="en-US" sz="8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Effective for continuous value prediction</a:t>
            </a:r>
            <a:endParaRPr lang="en-US" sz="850" dirty="0"/>
          </a:p>
          <a:p>
            <a:pPr algn="l" marL="172720" indent="-172720">
              <a:lnSpc>
                <a:spcPct val="120000"/>
              </a:lnSpc>
              <a:buSzPct val="100000"/>
              <a:buChar char="•"/>
            </a:pPr>
            <a:r>
              <a:rPr lang="en-US" sz="8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Provides a strong baseline performance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22387" y="2990552"/>
            <a:ext cx="1389534" cy="2824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2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85%</a:t>
            </a:r>
            <a:endParaRPr lang="en-US" sz="22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9913" y="2284512"/>
            <a:ext cx="1694557" cy="1694557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11151" y="4097238"/>
            <a:ext cx="1412081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R² Score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96119" y="4327699"/>
            <a:ext cx="2642220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Model accuracy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3877121" y="2990552"/>
            <a:ext cx="1389534" cy="2824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2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90%</a:t>
            </a:r>
            <a:endParaRPr lang="en-US" sz="22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4647" y="2284512"/>
            <a:ext cx="1694557" cy="1694557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865885" y="4097238"/>
            <a:ext cx="1412081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Training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3250853" y="4327699"/>
            <a:ext cx="2642220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Fit accuracy</a:t>
            </a:r>
            <a:endParaRPr lang="en-US" sz="850" dirty="0"/>
          </a:p>
        </p:txBody>
      </p:sp>
      <p:sp>
        <p:nvSpPr>
          <p:cNvPr id="15" name="Text 11"/>
          <p:cNvSpPr/>
          <p:nvPr/>
        </p:nvSpPr>
        <p:spPr>
          <a:xfrm>
            <a:off x="6631856" y="2990552"/>
            <a:ext cx="1389534" cy="2824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2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82%</a:t>
            </a:r>
            <a:endParaRPr lang="en-US" sz="22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9381" y="2284512"/>
            <a:ext cx="1694557" cy="169455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620619" y="4097238"/>
            <a:ext cx="1412081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Testing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6005587" y="4327699"/>
            <a:ext cx="2642220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Generalization</a:t>
            </a:r>
            <a:endParaRPr lang="en-US" sz="850" dirty="0"/>
          </a:p>
        </p:txBody>
      </p:sp>
      <p:sp>
        <p:nvSpPr>
          <p:cNvPr id="19" name="Text 14"/>
          <p:cNvSpPr/>
          <p:nvPr/>
        </p:nvSpPr>
        <p:spPr>
          <a:xfrm>
            <a:off x="496119" y="4591273"/>
            <a:ext cx="8608963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Evaluation metrics include R² Score, RMSE, and MAE, confirming the model's reliability in predicting property prices.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33090"/>
            <a:ext cx="2201540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Chapter 04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496119" y="706041"/>
            <a:ext cx="5671914" cy="436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0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Web Application &amp; Deployment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96119" y="1348160"/>
            <a:ext cx="8151763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The trained model is served via a Flask backend, accessible through a clean user interface for instant property valuation.</a:t>
            </a:r>
            <a:endParaRPr lang="en-US" sz="10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2211139"/>
            <a:ext cx="5179516" cy="223353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44635" y="4021115"/>
            <a:ext cx="1175064" cy="146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ML Model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844635" y="3504087"/>
            <a:ext cx="1175064" cy="146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Flask Backend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844635" y="2992282"/>
            <a:ext cx="1175064" cy="146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Web Browser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844635" y="2475254"/>
            <a:ext cx="1175064" cy="146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User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6020767" y="2082924"/>
            <a:ext cx="2201540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Technologies Used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6020767" y="2455441"/>
            <a:ext cx="1247254" cy="981521"/>
          </a:xfrm>
          <a:prstGeom prst="roundRect">
            <a:avLst>
              <a:gd name="adj" fmla="val 5972"/>
            </a:avLst>
          </a:prstGeom>
          <a:solidFill>
            <a:srgbClr val="080E26"/>
          </a:solidFill>
          <a:ln w="19050">
            <a:solidFill>
              <a:srgbClr val="414A7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179344" y="2614017"/>
            <a:ext cx="930101" cy="664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50" b="1" dirty="0">
                <a:solidFill>
                  <a:srgbClr val="EBECEF"/>
                </a:solidFill>
                <a:latin typeface="Epilogue Bold" pitchFamily="34" charset="0"/>
                <a:ea typeface="Epilogue Bold" pitchFamily="34" charset="-122"/>
                <a:cs typeface="Epilogue Bold" pitchFamily="34" charset="-120"/>
              </a:rPr>
              <a:t>Backend:</a:t>
            </a:r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Python, Flask, Scikit-learn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7405390" y="2455441"/>
            <a:ext cx="1247254" cy="981521"/>
          </a:xfrm>
          <a:prstGeom prst="roundRect">
            <a:avLst>
              <a:gd name="adj" fmla="val 5972"/>
            </a:avLst>
          </a:prstGeom>
          <a:solidFill>
            <a:srgbClr val="080E26"/>
          </a:solidFill>
          <a:ln w="19050">
            <a:solidFill>
              <a:srgbClr val="414A7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563966" y="2614017"/>
            <a:ext cx="930101" cy="664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50" b="1" dirty="0">
                <a:solidFill>
                  <a:srgbClr val="EBECEF"/>
                </a:solidFill>
                <a:latin typeface="Epilogue Bold" pitchFamily="34" charset="0"/>
                <a:ea typeface="Epilogue Bold" pitchFamily="34" charset="-122"/>
                <a:cs typeface="Epilogue Bold" pitchFamily="34" charset="-120"/>
              </a:rPr>
              <a:t>Frontend:</a:t>
            </a:r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HTML, CSS, JavaScript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6020767" y="3574331"/>
            <a:ext cx="1247254" cy="981521"/>
          </a:xfrm>
          <a:prstGeom prst="roundRect">
            <a:avLst>
              <a:gd name="adj" fmla="val 5972"/>
            </a:avLst>
          </a:prstGeom>
          <a:solidFill>
            <a:srgbClr val="080E26"/>
          </a:solidFill>
          <a:ln w="19050">
            <a:solidFill>
              <a:srgbClr val="414A7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179344" y="3732907"/>
            <a:ext cx="930101" cy="664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50" b="1" dirty="0">
                <a:solidFill>
                  <a:srgbClr val="EBECEF"/>
                </a:solidFill>
                <a:latin typeface="Epilogue Bold" pitchFamily="34" charset="0"/>
                <a:ea typeface="Epilogue Bold" pitchFamily="34" charset="-122"/>
                <a:cs typeface="Epilogue Bold" pitchFamily="34" charset="-120"/>
              </a:rPr>
              <a:t>Data:</a:t>
            </a:r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Pandas, NumPy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7405390" y="3574331"/>
            <a:ext cx="1247254" cy="981521"/>
          </a:xfrm>
          <a:prstGeom prst="roundRect">
            <a:avLst>
              <a:gd name="adj" fmla="val 5972"/>
            </a:avLst>
          </a:prstGeom>
          <a:solidFill>
            <a:srgbClr val="080E26"/>
          </a:solidFill>
          <a:ln w="19050">
            <a:solidFill>
              <a:srgbClr val="414A7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563966" y="3732907"/>
            <a:ext cx="930101" cy="664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50" b="1" dirty="0">
                <a:solidFill>
                  <a:srgbClr val="EBECEF"/>
                </a:solidFill>
                <a:latin typeface="Epilogue Bold" pitchFamily="34" charset="0"/>
                <a:ea typeface="Epilogue Bold" pitchFamily="34" charset="-122"/>
                <a:cs typeface="Epilogue Bold" pitchFamily="34" charset="-120"/>
              </a:rPr>
              <a:t>Deployment:</a:t>
            </a:r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GitHub, Railway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08310"/>
            <a:ext cx="2365697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Project Demonstration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496119" y="681261"/>
            <a:ext cx="4499744" cy="436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0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Application Screenshots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96119" y="1323380"/>
            <a:ext cx="8151763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The web application provides a seamless user experience — from entering property details to receiving an instant, data-driven price prediction.</a:t>
            </a:r>
            <a:endParaRPr lang="en-US" sz="10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920776"/>
            <a:ext cx="3431381" cy="212072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96119" y="4213175"/>
            <a:ext cx="1744340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Input Form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96119" y="4513585"/>
            <a:ext cx="399000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Users enter location, area, BHK, and bathroom count.</a:t>
            </a:r>
            <a:endParaRPr lang="en-US" sz="10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7799" y="1920776"/>
            <a:ext cx="3431456" cy="2120801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657799" y="4213250"/>
            <a:ext cx="1744340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Prediction Result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4657799" y="4513659"/>
            <a:ext cx="399008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The model returns an estimated property value instantly.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862385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Chapter 05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496119" y="1140544"/>
            <a:ext cx="556282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Challenges &amp; Lessons Learned</a:t>
            </a:r>
            <a:endParaRPr lang="en-US" sz="27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1955602"/>
            <a:ext cx="3902943" cy="216604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341290" y="2051968"/>
            <a:ext cx="212601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1</a:t>
            </a:r>
            <a:endParaRPr lang="en-US" sz="1650" dirty="0"/>
          </a:p>
        </p:txBody>
      </p:sp>
      <p:sp>
        <p:nvSpPr>
          <p:cNvPr id="6" name="Text 3"/>
          <p:cNvSpPr/>
          <p:nvPr/>
        </p:nvSpPr>
        <p:spPr>
          <a:xfrm>
            <a:off x="656927" y="2541687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Challenges Faced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656927" y="2904902"/>
            <a:ext cx="3581326" cy="1055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Data preprocessing &amp; cleaning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Handling missing values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Removing outliers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Model optimization &amp; Flask integration</a:t>
            </a:r>
            <a:endParaRPr lang="en-US" sz="11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49701" y="1955602"/>
            <a:ext cx="3902943" cy="216604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594872" y="2051968"/>
            <a:ext cx="212601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1</a:t>
            </a:r>
            <a:endParaRPr lang="en-US" sz="1650" dirty="0"/>
          </a:p>
        </p:txBody>
      </p:sp>
      <p:sp>
        <p:nvSpPr>
          <p:cNvPr id="10" name="Text 6"/>
          <p:cNvSpPr/>
          <p:nvPr/>
        </p:nvSpPr>
        <p:spPr>
          <a:xfrm>
            <a:off x="4910510" y="2541687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Lessons Learned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4910510" y="2904902"/>
            <a:ext cx="3581326" cy="1055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End-to-end ML workflow mastery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Importance of quality data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Regression model implementation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Web app deployment &amp; GitHub management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0153"/>
            <a:ext cx="2090812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Looking Ahead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496119" y="642417"/>
            <a:ext cx="3724424" cy="4083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5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Future Scope</a:t>
            </a:r>
            <a:endParaRPr lang="en-US" sz="2550" dirty="0"/>
          </a:p>
        </p:txBody>
      </p:sp>
      <p:sp>
        <p:nvSpPr>
          <p:cNvPr id="4" name="Text 2"/>
          <p:cNvSpPr/>
          <p:nvPr/>
        </p:nvSpPr>
        <p:spPr>
          <a:xfrm>
            <a:off x="496119" y="1231478"/>
            <a:ext cx="8608963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Building on this foundation, the project can be enhanced with advanced algorithms and richer user experiences.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64856" y="1567830"/>
            <a:ext cx="14288" cy="3185517"/>
          </a:xfrm>
          <a:prstGeom prst="roundRect">
            <a:avLst>
              <a:gd name="adj" fmla="val 384173"/>
            </a:avLst>
          </a:prstGeom>
          <a:solidFill>
            <a:srgbClr val="414A70"/>
          </a:solidFill>
          <a:ln/>
        </p:spPr>
      </p:sp>
      <p:sp>
        <p:nvSpPr>
          <p:cNvPr id="6" name="Shape 4"/>
          <p:cNvSpPr/>
          <p:nvPr/>
        </p:nvSpPr>
        <p:spPr>
          <a:xfrm>
            <a:off x="4047269" y="1707654"/>
            <a:ext cx="392013" cy="14288"/>
          </a:xfrm>
          <a:prstGeom prst="roundRect">
            <a:avLst>
              <a:gd name="adj" fmla="val 384173"/>
            </a:avLst>
          </a:prstGeom>
          <a:solidFill>
            <a:srgbClr val="414A70"/>
          </a:solidFill>
          <a:ln/>
        </p:spPr>
      </p:sp>
      <p:sp>
        <p:nvSpPr>
          <p:cNvPr id="7" name="Shape 5"/>
          <p:cNvSpPr/>
          <p:nvPr/>
        </p:nvSpPr>
        <p:spPr>
          <a:xfrm>
            <a:off x="4424995" y="1567830"/>
            <a:ext cx="294010" cy="294010"/>
          </a:xfrm>
          <a:prstGeom prst="roundRect">
            <a:avLst>
              <a:gd name="adj" fmla="val 18670"/>
            </a:avLst>
          </a:prstGeom>
          <a:solidFill>
            <a:srgbClr val="283157"/>
          </a:solidFill>
          <a:ln w="4763">
            <a:solidFill>
              <a:srgbClr val="414A7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73959" y="1592275"/>
            <a:ext cx="196007" cy="2450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284958" y="1612702"/>
            <a:ext cx="1633612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Advanced Models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96119" y="1889075"/>
            <a:ext cx="3422452" cy="4016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Integrate XGBoost &amp; Random Forest for higher accuracy.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04717" y="2471365"/>
            <a:ext cx="392013" cy="14288"/>
          </a:xfrm>
          <a:prstGeom prst="roundRect">
            <a:avLst>
              <a:gd name="adj" fmla="val 384173"/>
            </a:avLst>
          </a:prstGeom>
          <a:solidFill>
            <a:srgbClr val="414A70"/>
          </a:solidFill>
          <a:ln/>
        </p:spPr>
      </p:sp>
      <p:sp>
        <p:nvSpPr>
          <p:cNvPr id="12" name="Shape 10"/>
          <p:cNvSpPr/>
          <p:nvPr/>
        </p:nvSpPr>
        <p:spPr>
          <a:xfrm>
            <a:off x="4424995" y="2331541"/>
            <a:ext cx="294010" cy="294010"/>
          </a:xfrm>
          <a:prstGeom prst="roundRect">
            <a:avLst>
              <a:gd name="adj" fmla="val 18670"/>
            </a:avLst>
          </a:prstGeom>
          <a:solidFill>
            <a:srgbClr val="283157"/>
          </a:solidFill>
          <a:ln w="4763">
            <a:solidFill>
              <a:srgbClr val="414A7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73959" y="2355986"/>
            <a:ext cx="196007" cy="2450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225430" y="2376413"/>
            <a:ext cx="1653778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Live Data Integration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225430" y="2652787"/>
            <a:ext cx="3422452" cy="4016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Connect with real estate APIs &amp; interactive map-based selection.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047269" y="3136999"/>
            <a:ext cx="392013" cy="14288"/>
          </a:xfrm>
          <a:prstGeom prst="roundRect">
            <a:avLst>
              <a:gd name="adj" fmla="val 384173"/>
            </a:avLst>
          </a:prstGeom>
          <a:solidFill>
            <a:srgbClr val="414A70"/>
          </a:solidFill>
          <a:ln/>
        </p:spPr>
      </p:sp>
      <p:sp>
        <p:nvSpPr>
          <p:cNvPr id="17" name="Shape 15"/>
          <p:cNvSpPr/>
          <p:nvPr/>
        </p:nvSpPr>
        <p:spPr>
          <a:xfrm>
            <a:off x="4424995" y="2997175"/>
            <a:ext cx="294010" cy="294010"/>
          </a:xfrm>
          <a:prstGeom prst="roundRect">
            <a:avLst>
              <a:gd name="adj" fmla="val 18670"/>
            </a:avLst>
          </a:prstGeom>
          <a:solidFill>
            <a:srgbClr val="283157"/>
          </a:solidFill>
          <a:ln w="4763">
            <a:solidFill>
              <a:srgbClr val="414A7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473959" y="3021620"/>
            <a:ext cx="196007" cy="2450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2284958" y="3042047"/>
            <a:ext cx="1633612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Cloud &amp; CI/CD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96119" y="3318421"/>
            <a:ext cx="3422452" cy="4016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Scalable cloud deployment with automated pipelines.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04717" y="3802707"/>
            <a:ext cx="392013" cy="14288"/>
          </a:xfrm>
          <a:prstGeom prst="roundRect">
            <a:avLst>
              <a:gd name="adj" fmla="val 384173"/>
            </a:avLst>
          </a:prstGeom>
          <a:solidFill>
            <a:srgbClr val="414A70"/>
          </a:solidFill>
          <a:ln/>
        </p:spPr>
      </p:sp>
      <p:sp>
        <p:nvSpPr>
          <p:cNvPr id="22" name="Shape 20"/>
          <p:cNvSpPr/>
          <p:nvPr/>
        </p:nvSpPr>
        <p:spPr>
          <a:xfrm>
            <a:off x="4424995" y="3662883"/>
            <a:ext cx="294010" cy="294010"/>
          </a:xfrm>
          <a:prstGeom prst="roundRect">
            <a:avLst>
              <a:gd name="adj" fmla="val 18670"/>
            </a:avLst>
          </a:prstGeom>
          <a:solidFill>
            <a:srgbClr val="283157"/>
          </a:solidFill>
          <a:ln w="4763">
            <a:solidFill>
              <a:srgbClr val="414A7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473959" y="3687328"/>
            <a:ext cx="196007" cy="2450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4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225430" y="3707755"/>
            <a:ext cx="1683097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AI Recommendations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5225430" y="3984129"/>
            <a:ext cx="3422452" cy="4016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AI-powered property recommendation &amp; price trend visualization.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925119" y="652090"/>
            <a:ext cx="455042" cy="266402"/>
          </a:xfrm>
          <a:prstGeom prst="roundRect">
            <a:avLst>
              <a:gd name="adj" fmla="val 17880"/>
            </a:avLst>
          </a:prstGeom>
          <a:solidFill>
            <a:srgbClr val="181E34"/>
          </a:solidFill>
          <a:ln/>
        </p:spPr>
      </p:sp>
      <p:sp>
        <p:nvSpPr>
          <p:cNvPr id="4" name="Text 1"/>
          <p:cNvSpPr/>
          <p:nvPr/>
        </p:nvSpPr>
        <p:spPr>
          <a:xfrm>
            <a:off x="4010174" y="694581"/>
            <a:ext cx="742131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Q &amp; A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3925119" y="975196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Thank You</a:t>
            </a:r>
            <a:endParaRPr lang="en-US" sz="2750" dirty="0"/>
          </a:p>
        </p:txBody>
      </p:sp>
      <p:sp>
        <p:nvSpPr>
          <p:cNvPr id="6" name="Text 3"/>
          <p:cNvSpPr/>
          <p:nvPr/>
        </p:nvSpPr>
        <p:spPr>
          <a:xfrm>
            <a:off x="3925119" y="1630784"/>
            <a:ext cx="4722763" cy="1222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8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Questions &amp; Discussion</a:t>
            </a:r>
            <a:endParaRPr lang="en-US" sz="3850" dirty="0"/>
          </a:p>
        </p:txBody>
      </p:sp>
      <p:sp>
        <p:nvSpPr>
          <p:cNvPr id="7" name="Shape 4"/>
          <p:cNvSpPr/>
          <p:nvPr/>
        </p:nvSpPr>
        <p:spPr>
          <a:xfrm>
            <a:off x="3925119" y="3066157"/>
            <a:ext cx="19050" cy="999381"/>
          </a:xfrm>
          <a:prstGeom prst="roundRect">
            <a:avLst>
              <a:gd name="adj" fmla="val 60000"/>
            </a:avLst>
          </a:prstGeom>
          <a:solidFill>
            <a:srgbClr val="8C98CA"/>
          </a:solidFill>
          <a:ln/>
        </p:spPr>
      </p:sp>
      <p:sp>
        <p:nvSpPr>
          <p:cNvPr id="8" name="Text 5"/>
          <p:cNvSpPr/>
          <p:nvPr/>
        </p:nvSpPr>
        <p:spPr>
          <a:xfrm>
            <a:off x="4137720" y="3225626"/>
            <a:ext cx="4510162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"Machine Learning transforms historical data into intelligent decisions, making property valuation faster, smarter, and more reliable."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3925119" y="4267498"/>
            <a:ext cx="1489770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8C98CA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GITHUB: ARPITRAJ10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8C98CA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2026-07-02T03:56:12Z</dcterms:created>
  <dcterms:modified xsi:type="dcterms:W3CDTF">2026-07-02T03:56:12Z</dcterms:modified>
</cp:coreProperties>
</file>